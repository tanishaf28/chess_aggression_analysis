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7" d="100"/>
          <a:sy n="217" d="100"/>
        </p:scale>
        <p:origin x="17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Openings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BF9-4238-9B7F-F4C5BFA9EBF7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BF9-4238-9B7F-F4C5BFA9EBF7}"/>
              </c:ext>
            </c:extLst>
          </c:dPt>
          <c:dPt>
            <c:idx val="2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BF9-4238-9B7F-F4C5BFA9EBF7}"/>
              </c:ext>
            </c:extLst>
          </c:dPt>
          <c:dPt>
            <c:idx val="3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BF9-4238-9B7F-F4C5BFA9EBF7}"/>
              </c:ext>
            </c:extLst>
          </c:dPt>
          <c:cat>
            <c:strRef>
              <c:f>Sheet1!$A$2:$A$5</c:f>
              <c:strCache>
                <c:ptCount val="4"/>
                <c:pt idx="0">
                  <c:v>Positional</c:v>
                </c:pt>
                <c:pt idx="1">
                  <c:v>Very Aggressive</c:v>
                </c:pt>
                <c:pt idx="2">
                  <c:v>Aggressive</c:v>
                </c:pt>
                <c:pt idx="3">
                  <c:v>Balanced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8836</c:v>
                </c:pt>
                <c:pt idx="1">
                  <c:v>5137</c:v>
                </c:pt>
                <c:pt idx="2">
                  <c:v>3541</c:v>
                </c:pt>
                <c:pt idx="3">
                  <c:v>2544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BF9-4238-9B7F-F4C5BFA9EB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7035608048993877"/>
          <c:y val="0.13521231357708194"/>
          <c:w val="0.45464391951006122"/>
          <c:h val="0.78125546806649171"/>
        </c:manualLayout>
      </c:layout>
      <c:overlay val="0"/>
      <c:txPr>
        <a:bodyPr/>
        <a:lstStyle/>
        <a:p>
          <a:pPr>
            <a:defRPr sz="1200">
              <a:solidFill>
                <a:srgbClr val="B0A09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White Wins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5F0E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Positional</c:v>
                </c:pt>
                <c:pt idx="1">
                  <c:v>Very Aggressive</c:v>
                </c:pt>
                <c:pt idx="2">
                  <c:v>Aggressive</c:v>
                </c:pt>
                <c:pt idx="3">
                  <c:v>Balanced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51.6</c:v>
                </c:pt>
                <c:pt idx="1">
                  <c:v>50.7</c:v>
                </c:pt>
                <c:pt idx="2">
                  <c:v>47.2</c:v>
                </c:pt>
                <c:pt idx="3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29-4BE3-8CFA-35D167223D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Black Wins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5F0E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Positional</c:v>
                </c:pt>
                <c:pt idx="1">
                  <c:v>Very Aggressive</c:v>
                </c:pt>
                <c:pt idx="2">
                  <c:v>Aggressive</c:v>
                </c:pt>
                <c:pt idx="3">
                  <c:v>Balanced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43.7</c:v>
                </c:pt>
                <c:pt idx="1">
                  <c:v>44.6</c:v>
                </c:pt>
                <c:pt idx="2">
                  <c:v>47.8</c:v>
                </c:pt>
                <c:pt idx="3">
                  <c:v>49.6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29-4BE3-8CFA-35D167223D0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Draws</c:v>
                </c:pt>
              </c:strCache>
            </c:strRef>
          </c:tx>
          <c:spPr>
            <a:solidFill>
              <a:srgbClr val="4ECD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5F0E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Positional</c:v>
                </c:pt>
                <c:pt idx="1">
                  <c:v>Very Aggressive</c:v>
                </c:pt>
                <c:pt idx="2">
                  <c:v>Aggressive</c:v>
                </c:pt>
                <c:pt idx="3">
                  <c:v>Balanced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4.7</c:v>
                </c:pt>
                <c:pt idx="1">
                  <c:v>4.7</c:v>
                </c:pt>
                <c:pt idx="2">
                  <c:v>5.0999999999999996</c:v>
                </c:pt>
                <c:pt idx="3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329-4BE3-8CFA-35D167223D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A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A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B0A09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Decisiveness</c:v>
                </c:pt>
              </c:strCache>
            </c:strRef>
          </c:tx>
          <c:spPr>
            <a:solidFill>
              <a:srgbClr val="2980B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16D-4385-9B13-E1974B9E1A5D}"/>
              </c:ext>
            </c:extLst>
          </c:dPt>
          <c:dPt>
            <c:idx val="1"/>
            <c:invertIfNegative val="0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6D-4385-9B13-E1974B9E1A5D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16D-4385-9B13-E1974B9E1A5D}"/>
              </c:ext>
            </c:extLst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16D-4385-9B13-E1974B9E1A5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5F0E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Balanced</c:v>
                </c:pt>
                <c:pt idx="1">
                  <c:v>Positional</c:v>
                </c:pt>
                <c:pt idx="2">
                  <c:v>Very Agg.</c:v>
                </c:pt>
                <c:pt idx="3">
                  <c:v>Aggressive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2.1970000000000001</c:v>
                </c:pt>
                <c:pt idx="1">
                  <c:v>2.1429999999999998</c:v>
                </c:pt>
                <c:pt idx="2">
                  <c:v>2.1419999999999999</c:v>
                </c:pt>
                <c:pt idx="3">
                  <c:v>2.0950000000000002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16D-4385-9B13-E1974B9E1A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A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2200000000000002"/>
          <c:min val="2.0499999999999998"/>
        </c:scaling>
        <c:delete val="0"/>
        <c:axPos val="b"/>
        <c:majorGridlines>
          <c:spPr>
            <a:ln w="1270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A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Turns</c:v>
                </c:pt>
              </c:strCache>
            </c:strRef>
          </c:tx>
          <c:spPr>
            <a:solidFill>
              <a:srgbClr val="4ECD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195-45AA-BF96-9DBE351F41D2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195-45AA-BF96-9DBE351F41D2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195-45AA-BF96-9DBE351F41D2}"/>
              </c:ext>
            </c:extLst>
          </c:dPt>
          <c:dPt>
            <c:idx val="3"/>
            <c:invertIfNegative val="0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195-45AA-BF96-9DBE351F41D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5F0E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Positional</c:v>
                </c:pt>
                <c:pt idx="1">
                  <c:v>Aggressive</c:v>
                </c:pt>
                <c:pt idx="2">
                  <c:v>Very Agg.</c:v>
                </c:pt>
                <c:pt idx="3">
                  <c:v>Balanced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61.5</c:v>
                </c:pt>
                <c:pt idx="1">
                  <c:v>60.6</c:v>
                </c:pt>
                <c:pt idx="2">
                  <c:v>60.4</c:v>
                </c:pt>
                <c:pt idx="3">
                  <c:v>56.8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195-45AA-BF96-9DBE351F41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A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"/>
          <c:min val="50"/>
        </c:scaling>
        <c:delete val="0"/>
        <c:axPos val="b"/>
        <c:majorGridlines>
          <c:spPr>
            <a:ln w="1270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A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Checkmate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Positional</c:v>
                </c:pt>
                <c:pt idx="1">
                  <c:v>Very Agg.</c:v>
                </c:pt>
                <c:pt idx="2">
                  <c:v>Aggressive</c:v>
                </c:pt>
                <c:pt idx="3">
                  <c:v>Balanced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22</c:v>
                </c:pt>
                <c:pt idx="2">
                  <c:v>20</c:v>
                </c:pt>
                <c:pt idx="3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C9-4DEC-BDDB-0BBF4396B6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Resign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Positional</c:v>
                </c:pt>
                <c:pt idx="1">
                  <c:v>Very Agg.</c:v>
                </c:pt>
                <c:pt idx="2">
                  <c:v>Aggressive</c:v>
                </c:pt>
                <c:pt idx="3">
                  <c:v>Balanced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54</c:v>
                </c:pt>
                <c:pt idx="2">
                  <c:v>53</c:v>
                </c:pt>
                <c:pt idx="3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C9-4DEC-BDDB-0BBF4396B6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Time Out</c:v>
                </c:pt>
              </c:strCache>
            </c:strRef>
          </c:tx>
          <c:spPr>
            <a:solidFill>
              <a:srgbClr val="4ECDC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Positional</c:v>
                </c:pt>
                <c:pt idx="1">
                  <c:v>Very Agg.</c:v>
                </c:pt>
                <c:pt idx="2">
                  <c:v>Aggressive</c:v>
                </c:pt>
                <c:pt idx="3">
                  <c:v>Balanced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17</c:v>
                </c:pt>
                <c:pt idx="1">
                  <c:v>20</c:v>
                </c:pt>
                <c:pt idx="2">
                  <c:v>22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0C9-4DEC-BDDB-0BBF4396B69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Draw</c:v>
                </c:pt>
              </c:strCache>
            </c:strRef>
          </c:tx>
          <c:spPr>
            <a:solidFill>
              <a:srgbClr val="55555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Positional</c:v>
                </c:pt>
                <c:pt idx="1">
                  <c:v>Very Agg.</c:v>
                </c:pt>
                <c:pt idx="2">
                  <c:v>Aggressive</c:v>
                </c:pt>
                <c:pt idx="3">
                  <c:v>Balanced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</c:v>
                </c:pt>
                <c:pt idx="1">
                  <c:v>4.7</c:v>
                </c:pt>
                <c:pt idx="2">
                  <c:v>5.0999999999999996</c:v>
                </c:pt>
                <c:pt idx="3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0C9-4DEC-BDDB-0BBF4396B6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A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A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B0A09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Aggressive</c:v>
                </c:pt>
              </c:strCache>
            </c:strRef>
          </c:tx>
          <c:spPr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5F0E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Beginner (1100)</c:v>
                </c:pt>
                <c:pt idx="1">
                  <c:v>Intermediate (1500)</c:v>
                </c:pt>
                <c:pt idx="2">
                  <c:v>Advanced (1800)</c:v>
                </c:pt>
                <c:pt idx="3">
                  <c:v>Expert (2200)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50.7</c:v>
                </c:pt>
                <c:pt idx="2">
                  <c:v>49.4</c:v>
                </c:pt>
                <c:pt idx="3">
                  <c:v>46.6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BBC-4D8E-9BAC-91F0A822B9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Positional</c:v>
                </c:pt>
              </c:strCache>
            </c:strRef>
          </c:tx>
          <c:spPr>
            <a:ln w="38100" cap="flat">
              <a:solidFill>
                <a:srgbClr val="4ECDC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ECDC4"/>
              </a:solidFill>
              <a:ln w="9525" cap="flat">
                <a:solidFill>
                  <a:srgbClr val="4ECDC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5F0E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Beginner (1100)</c:v>
                </c:pt>
                <c:pt idx="1">
                  <c:v>Intermediate (1500)</c:v>
                </c:pt>
                <c:pt idx="2">
                  <c:v>Advanced (1800)</c:v>
                </c:pt>
                <c:pt idx="3">
                  <c:v>Expert (2200)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48.5</c:v>
                </c:pt>
                <c:pt idx="1">
                  <c:v>49.8</c:v>
                </c:pt>
                <c:pt idx="2">
                  <c:v>51.2</c:v>
                </c:pt>
                <c:pt idx="3">
                  <c:v>52.8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BBC-4D8E-9BAC-91F0A822B98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Very Aggressive</c:v>
                </c:pt>
              </c:strCache>
            </c:strRef>
          </c:tx>
          <c:spPr>
            <a:ln w="38100" cap="flat">
              <a:solidFill>
                <a:srgbClr val="E67E2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5F0E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Beginner (1100)</c:v>
                </c:pt>
                <c:pt idx="1">
                  <c:v>Intermediate (1500)</c:v>
                </c:pt>
                <c:pt idx="2">
                  <c:v>Advanced (1800)</c:v>
                </c:pt>
                <c:pt idx="3">
                  <c:v>Expert (2200)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51.2</c:v>
                </c:pt>
                <c:pt idx="1">
                  <c:v>50.9</c:v>
                </c:pt>
                <c:pt idx="2">
                  <c:v>49.8</c:v>
                </c:pt>
                <c:pt idx="3">
                  <c:v>47.5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0BBC-4D8E-9BAC-91F0A822B9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A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6"/>
          <c:min val="44"/>
        </c:scaling>
        <c:delete val="0"/>
        <c:axPos val="l"/>
        <c:majorGridlines>
          <c:spPr>
            <a:ln w="1270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A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B0A09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Aggressive Advantage over Positional (%)</c:v>
                </c:pt>
              </c:strCache>
            </c:strRef>
          </c:tx>
          <c:spPr>
            <a:ln w="508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800</c:v>
                </c:pt>
                <c:pt idx="1">
                  <c:v>900</c:v>
                </c:pt>
                <c:pt idx="2">
                  <c:v>1000</c:v>
                </c:pt>
                <c:pt idx="3">
                  <c:v>1100</c:v>
                </c:pt>
                <c:pt idx="4">
                  <c:v>1200</c:v>
                </c:pt>
                <c:pt idx="5">
                  <c:v>1300</c:v>
                </c:pt>
                <c:pt idx="6">
                  <c:v>1400</c:v>
                </c:pt>
                <c:pt idx="7">
                  <c:v>1500</c:v>
                </c:pt>
                <c:pt idx="8">
                  <c:v>1600</c:v>
                </c:pt>
                <c:pt idx="9">
                  <c:v>1700</c:v>
                </c:pt>
                <c:pt idx="10">
                  <c:v>1800</c:v>
                </c:pt>
                <c:pt idx="11">
                  <c:v>1900</c:v>
                </c:pt>
                <c:pt idx="12">
                  <c:v>2000</c:v>
                </c:pt>
                <c:pt idx="13">
                  <c:v>2200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1.2</c:v>
                </c:pt>
                <c:pt idx="1">
                  <c:v>2.1</c:v>
                </c:pt>
                <c:pt idx="2">
                  <c:v>3.4</c:v>
                </c:pt>
                <c:pt idx="3">
                  <c:v>3.8</c:v>
                </c:pt>
                <c:pt idx="4">
                  <c:v>3.2</c:v>
                </c:pt>
                <c:pt idx="5">
                  <c:v>2.5</c:v>
                </c:pt>
                <c:pt idx="6">
                  <c:v>1.8</c:v>
                </c:pt>
                <c:pt idx="7">
                  <c:v>0.8</c:v>
                </c:pt>
                <c:pt idx="8">
                  <c:v>0.1</c:v>
                </c:pt>
                <c:pt idx="9">
                  <c:v>-0.6</c:v>
                </c:pt>
                <c:pt idx="10">
                  <c:v>-1.2</c:v>
                </c:pt>
                <c:pt idx="11">
                  <c:v>-1.8</c:v>
                </c:pt>
                <c:pt idx="12">
                  <c:v>-2.1</c:v>
                </c:pt>
                <c:pt idx="13">
                  <c:v>-2.8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183-457F-9F86-6AA7E75170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A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-4"/>
        </c:scaling>
        <c:delete val="0"/>
        <c:axPos val="l"/>
        <c:majorGridlines>
          <c:spPr>
            <a:ln w="1270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A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White Win Rate %</c:v>
                </c:pt>
              </c:strCache>
            </c:strRef>
          </c:tx>
          <c:spPr>
            <a:solidFill>
              <a:srgbClr val="0066C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EF0-4A8F-87B0-D8A2E7B97878}"/>
              </c:ext>
            </c:extLst>
          </c:dPt>
          <c:dPt>
            <c:idx val="1"/>
            <c:invertIfNegative val="0"/>
            <c:bubble3D val="0"/>
            <c:spPr>
              <a:solidFill>
                <a:srgbClr val="4499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EF0-4A8F-87B0-D8A2E7B97878}"/>
              </c:ext>
            </c:extLst>
          </c:dPt>
          <c:dPt>
            <c:idx val="2"/>
            <c:invertIfNegative val="0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EF0-4A8F-87B0-D8A2E7B97878}"/>
              </c:ext>
            </c:extLst>
          </c:dPt>
          <c:dPt>
            <c:idx val="3"/>
            <c:invertIfNegative val="0"/>
            <c:bubble3D val="0"/>
            <c:spPr>
              <a:solidFill>
                <a:srgbClr val="FF99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EF0-4A8F-87B0-D8A2E7B97878}"/>
              </c:ext>
            </c:extLst>
          </c:dPt>
          <c:dPt>
            <c:idx val="4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EF0-4A8F-87B0-D8A2E7B97878}"/>
              </c:ext>
            </c:extLst>
          </c:dPt>
          <c:dPt>
            <c:idx val="5"/>
            <c:invertIfNegative val="0"/>
            <c:bubble3D val="0"/>
            <c:spPr>
              <a:solidFill>
                <a:srgbClr val="9900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EF0-4A8F-87B0-D8A2E7B9787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5F0E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Black +400</c:v>
                </c:pt>
                <c:pt idx="1">
                  <c:v>Black +200</c:v>
                </c:pt>
                <c:pt idx="2">
                  <c:v>Even (±200)</c:v>
                </c:pt>
                <c:pt idx="3">
                  <c:v>White +200</c:v>
                </c:pt>
                <c:pt idx="4">
                  <c:v>White +400</c:v>
                </c:pt>
                <c:pt idx="5">
                  <c:v>White Dominant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30</c:v>
                </c:pt>
                <c:pt idx="2">
                  <c:v>50</c:v>
                </c:pt>
                <c:pt idx="3">
                  <c:v>68</c:v>
                </c:pt>
                <c:pt idx="4">
                  <c:v>80</c:v>
                </c:pt>
                <c:pt idx="5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EF0-4A8F-87B0-D8A2E7B978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A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A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Aggressive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1"/>
          <c:xVal>
            <c:numRef>
              <c:f>Sheet1!$A$2:$A$5</c:f>
              <c:numCache>
                <c:formatCode>General</c:formatCode>
                <c:ptCount val="4"/>
                <c:pt idx="0">
                  <c:v>50.7</c:v>
                </c:pt>
                <c:pt idx="1">
                  <c:v>50.9</c:v>
                </c:pt>
                <c:pt idx="2">
                  <c:v>50.3</c:v>
                </c:pt>
                <c:pt idx="3">
                  <c:v>51.2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47.2</c:v>
                </c:pt>
                <c:pt idx="1">
                  <c:v>48.1</c:v>
                </c:pt>
                <c:pt idx="2">
                  <c:v>46.8</c:v>
                </c:pt>
                <c:pt idx="3">
                  <c:v>47.6</c:v>
                </c:pt>
              </c:numCache>
            </c:numRef>
          </c:yVal>
          <c:bubbleSize>
            <c:numRef>
              <c:f>Sheet1!$C$2:$C$5</c:f>
              <c:numCache>
                <c:formatCode>General</c:formatCode>
                <c:ptCount val="4"/>
                <c:pt idx="0">
                  <c:v>26</c:v>
                </c:pt>
                <c:pt idx="1">
                  <c:v>22</c:v>
                </c:pt>
                <c:pt idx="2">
                  <c:v>24</c:v>
                </c:pt>
                <c:pt idx="3">
                  <c:v>20</c:v>
                </c:pt>
              </c:numCache>
            </c:numRef>
          </c:bubbleSize>
          <c:bubble3D val="0"/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 cap="flat">
                    <a:solidFill>
                      <a:srgbClr val="C0392B"/>
                    </a:solidFill>
                    <a:prstDash val="solid"/>
                    <a:round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9441-4645-BC32-88F1F95C7712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Positional</c:v>
                </c:pt>
              </c:strCache>
            </c:strRef>
          </c:tx>
          <c:spPr>
            <a:solidFill>
              <a:srgbClr val="E67E22"/>
            </a:solidFill>
            <a:ln w="25400" cap="flat">
              <a:solidFill>
                <a:srgbClr val="E67E22"/>
              </a:solidFill>
              <a:prstDash val="solid"/>
              <a:round/>
            </a:ln>
            <a:effectLst/>
          </c:spPr>
          <c:invertIfNegative val="1"/>
          <c:xVal>
            <c:numRef>
              <c:f>Sheet1!$A$2:$A$5</c:f>
              <c:numCache>
                <c:formatCode>General</c:formatCode>
                <c:ptCount val="4"/>
                <c:pt idx="0">
                  <c:v>50.7</c:v>
                </c:pt>
                <c:pt idx="1">
                  <c:v>50.9</c:v>
                </c:pt>
                <c:pt idx="2">
                  <c:v>50.3</c:v>
                </c:pt>
                <c:pt idx="3">
                  <c:v>51.2</c:v>
                </c:pt>
              </c:numCache>
            </c:numRef>
          </c:xVal>
          <c:yVal>
            <c:numRef>
              <c:f>Sheet1!$D$2:$D$5</c:f>
              <c:numCache>
                <c:formatCode>General</c:formatCode>
                <c:ptCount val="4"/>
                <c:pt idx="0">
                  <c:v>51.6</c:v>
                </c:pt>
                <c:pt idx="1">
                  <c:v>51.1</c:v>
                </c:pt>
                <c:pt idx="2">
                  <c:v>52.1</c:v>
                </c:pt>
                <c:pt idx="3">
                  <c:v>50.8</c:v>
                </c:pt>
              </c:numCache>
            </c:numRef>
          </c:yVal>
          <c:bubbleSize>
            <c:numRef>
              <c:f>Sheet1!$E$2:$E$5</c:f>
              <c:numCache>
                <c:formatCode>General</c:formatCode>
                <c:ptCount val="4"/>
                <c:pt idx="0">
                  <c:v>28</c:v>
                </c:pt>
                <c:pt idx="1">
                  <c:v>26</c:v>
                </c:pt>
                <c:pt idx="2">
                  <c:v>24</c:v>
                </c:pt>
                <c:pt idx="3">
                  <c:v>22</c:v>
                </c:pt>
              </c:numCache>
            </c:numRef>
          </c:bubbleSize>
          <c:bubble3D val="0"/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 cap="flat">
                    <a:solidFill>
                      <a:srgbClr val="E67E22"/>
                    </a:solidFill>
                    <a:prstDash val="solid"/>
                    <a:round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1-9441-4645-BC32-88F1F95C7712}"/>
            </c:ext>
          </c:extLst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Balanced</c:v>
                </c:pt>
              </c:strCache>
            </c:strRef>
          </c:tx>
          <c:spPr>
            <a:solidFill>
              <a:srgbClr val="4ECDC4"/>
            </a:solidFill>
            <a:ln w="25400" cap="flat">
              <a:solidFill>
                <a:srgbClr val="4ECDC4"/>
              </a:solidFill>
              <a:prstDash val="solid"/>
              <a:round/>
            </a:ln>
            <a:effectLst/>
          </c:spPr>
          <c:invertIfNegative val="1"/>
          <c:xVal>
            <c:numRef>
              <c:f>Sheet1!$A$2:$A$5</c:f>
              <c:numCache>
                <c:formatCode>General</c:formatCode>
                <c:ptCount val="4"/>
                <c:pt idx="0">
                  <c:v>50.7</c:v>
                </c:pt>
                <c:pt idx="1">
                  <c:v>50.9</c:v>
                </c:pt>
                <c:pt idx="2">
                  <c:v>50.3</c:v>
                </c:pt>
                <c:pt idx="3">
                  <c:v>51.2</c:v>
                </c:pt>
              </c:numCache>
            </c:numRef>
          </c:xVal>
          <c:yVal>
            <c:numRef>
              <c:f>Sheet1!$F$2:$F$5</c:f>
              <c:numCache>
                <c:formatCode>General</c:formatCode>
                <c:ptCount val="4"/>
                <c:pt idx="0">
                  <c:v>46</c:v>
                </c:pt>
                <c:pt idx="1">
                  <c:v>45.5</c:v>
                </c:pt>
                <c:pt idx="2">
                  <c:v>46.5</c:v>
                </c:pt>
                <c:pt idx="3">
                  <c:v>45.2</c:v>
                </c:pt>
              </c:numCache>
            </c:numRef>
          </c:yVal>
          <c:bubbleSize>
            <c:numRef>
              <c:f>Sheet1!$G$2:$G$5</c:f>
              <c:numCache>
                <c:formatCode>General</c:formatCode>
                <c:ptCount val="4"/>
                <c:pt idx="0">
                  <c:v>24</c:v>
                </c:pt>
                <c:pt idx="1">
                  <c:v>22</c:v>
                </c:pt>
                <c:pt idx="2">
                  <c:v>20</c:v>
                </c:pt>
                <c:pt idx="3">
                  <c:v>18</c:v>
                </c:pt>
              </c:numCache>
            </c:numRef>
          </c:bubbleSize>
          <c:bubble3D val="0"/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 cap="flat">
                    <a:solidFill>
                      <a:srgbClr val="4ECDC4"/>
                    </a:solidFill>
                    <a:prstDash val="solid"/>
                    <a:round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2-9441-4645-BC32-88F1F95C77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1"/>
        <c:axId val="2094734554"/>
        <c:axId val="2094734552"/>
      </c:bubble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A0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A0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B0A09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20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25780" y="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77340" y="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03120" y="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628900" y="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54680" y="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80460" y="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52578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25780" y="52578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51560" y="52578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577340" y="52578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03120" y="52578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628900" y="52578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54680" y="52578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80460" y="52578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0" y="105156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5780" y="105156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51560" y="105156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577340" y="105156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103120" y="105156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628900" y="105156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154680" y="105156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80460" y="105156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0" y="157734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25780" y="157734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51560" y="157734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577340" y="157734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103120" y="157734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628900" y="157734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154680" y="157734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80460" y="157734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0" y="210312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25780" y="210312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51560" y="210312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577340" y="210312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103120" y="210312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628900" y="210312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154680" y="210312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680460" y="210312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0" y="262890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25780" y="262890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051560" y="262890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577340" y="262890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103120" y="262890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628900" y="262890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154680" y="262890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680460" y="262890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0" y="315468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25780" y="315468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051560" y="315468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577340" y="315468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2103120" y="315468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628900" y="315468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3154680" y="315468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3680460" y="315468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0" y="368046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25780" y="368046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051560" y="368046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577340" y="368046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2103120" y="368046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628900" y="368046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154680" y="3680460"/>
            <a:ext cx="525780" cy="525780"/>
          </a:xfrm>
          <a:prstGeom prst="rect">
            <a:avLst/>
          </a:prstGeom>
          <a:solidFill>
            <a:srgbClr val="7C4A1E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680460" y="3680460"/>
            <a:ext cx="525780" cy="525780"/>
          </a:xfrm>
          <a:prstGeom prst="rect">
            <a:avLst/>
          </a:prstGeom>
          <a:solidFill>
            <a:srgbClr val="F5DFA8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206240" y="0"/>
            <a:ext cx="36576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242816" y="0"/>
            <a:ext cx="4901184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57200" y="54864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♟</a:t>
            </a:r>
            <a:endParaRPr lang="en-US" sz="20000" dirty="0"/>
          </a:p>
        </p:txBody>
      </p:sp>
      <p:sp>
        <p:nvSpPr>
          <p:cNvPr id="70" name="Text 68"/>
          <p:cNvSpPr/>
          <p:nvPr/>
        </p:nvSpPr>
        <p:spPr>
          <a:xfrm>
            <a:off x="4480560" y="32004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CODÉDEX DATA SCIENCE CHALLENGE  ·  FEBRUARY 2026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297680" y="82296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AGGRESSION
</a:t>
            </a:r>
            <a:r>
              <a:rPr lang="en-US" sz="3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IN CHESS?</a:t>
            </a:r>
            <a:endParaRPr lang="en-US" sz="3800" dirty="0"/>
          </a:p>
        </p:txBody>
      </p:sp>
      <p:sp>
        <p:nvSpPr>
          <p:cNvPr id="72" name="Shape 70"/>
          <p:cNvSpPr/>
          <p:nvPr/>
        </p:nvSpPr>
        <p:spPr>
          <a:xfrm>
            <a:off x="4480560" y="2788920"/>
            <a:ext cx="3200400" cy="27432"/>
          </a:xfrm>
          <a:prstGeom prst="rect">
            <a:avLst/>
          </a:prstGeom>
          <a:solidFill>
            <a:srgbClr val="D4A843">
              <a:alpha val="60000"/>
            </a:srgbClr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480560" y="29443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A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Data-Driven Analysis of 20,058 Chess Games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4480560" y="3840480"/>
            <a:ext cx="1371600" cy="777240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480560" y="38587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C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20,058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4480560" y="4224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989320" y="3840480"/>
            <a:ext cx="1371600" cy="777240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5989320" y="38587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C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5989320" y="4224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STYLES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7498080" y="3840480"/>
            <a:ext cx="1371600" cy="777240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7498080" y="38587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C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800 -2700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7498080" y="43205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RATINGS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58784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70848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82912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02752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14816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26880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838944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58784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070848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82912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02752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14816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326880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838944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0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58784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70848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582912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02752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14816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26880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38944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46720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58784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70848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82912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02752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814816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326880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838944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292608"/>
            <a:ext cx="109728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2926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chess game begins with a choice : how will you fight?</a:t>
            </a:r>
            <a:endParaRPr lang="en-US" sz="16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57200" y="1920240"/>
            <a:ext cx="4023360" cy="2834640"/>
          </a:xfrm>
          <a:prstGeom prst="rect">
            <a:avLst/>
          </a:prstGeom>
          <a:solidFill>
            <a:srgbClr val="1E1E1E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7200" y="1920240"/>
            <a:ext cx="40233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0080" y="20299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⚔️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123444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AGGRESSIVE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685800" y="2724912"/>
            <a:ext cx="54864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296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Hurl pawns forward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85800" y="3200400"/>
            <a:ext cx="54864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22960" y="31272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Sacrifice for attack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85800" y="3675888"/>
            <a:ext cx="54864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22960" y="360273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 tactical chaos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85800" y="4151376"/>
            <a:ext cx="54864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22960" y="40782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Gambits &amp; sharp openings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663440" y="1920240"/>
            <a:ext cx="4023360" cy="2834640"/>
          </a:xfrm>
          <a:prstGeom prst="rect">
            <a:avLst/>
          </a:prstGeom>
          <a:solidFill>
            <a:srgbClr val="1E1E1E"/>
          </a:solidFill>
          <a:ln w="19050">
            <a:solidFill>
              <a:srgbClr val="2E8B7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663440" y="1920240"/>
            <a:ext cx="4023360" cy="73152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846320" y="20299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🏰</a:t>
            </a:r>
            <a:endParaRPr lang="en-US" sz="2800" dirty="0"/>
          </a:p>
        </p:txBody>
      </p:sp>
      <p:sp>
        <p:nvSpPr>
          <p:cNvPr id="53" name="Text 51"/>
          <p:cNvSpPr/>
          <p:nvPr/>
        </p:nvSpPr>
        <p:spPr>
          <a:xfrm>
            <a:off x="544068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2E8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POSITIONAL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4892040" y="2724912"/>
            <a:ext cx="54864" cy="54864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02920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slowly &amp; steadily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892040" y="3200400"/>
            <a:ext cx="54864" cy="54864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029200" y="31272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space &amp; files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892040" y="3675888"/>
            <a:ext cx="54864" cy="54864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029200" y="360273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strategic plans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892040" y="4151376"/>
            <a:ext cx="54864" cy="54864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029200" y="40782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Patience as a weapon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4261104" y="2971800"/>
            <a:ext cx="640080" cy="64008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261104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58784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70848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82912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02752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14816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26880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838944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58784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070848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82912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02752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14816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326880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838944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0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58784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70848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582912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02752" y="1346373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14816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26880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38944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46720" y="1602405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58784" y="1602405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70848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82912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02752" y="1858437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814816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326880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838944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292608"/>
            <a:ext cx="109728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2926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4000" dirty="0"/>
          </a:p>
        </p:txBody>
      </p:sp>
      <p:sp>
        <p:nvSpPr>
          <p:cNvPr id="37" name="Shape 35"/>
          <p:cNvSpPr/>
          <p:nvPr/>
        </p:nvSpPr>
        <p:spPr>
          <a:xfrm>
            <a:off x="457200" y="1483533"/>
            <a:ext cx="1920240" cy="2194560"/>
          </a:xfrm>
          <a:prstGeom prst="rect">
            <a:avLst/>
          </a:prstGeom>
          <a:solidFill>
            <a:srgbClr val="161616"/>
          </a:solidFill>
          <a:ln w="12700">
            <a:solidFill>
              <a:srgbClr val="D4A84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" y="1483533"/>
            <a:ext cx="192024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1666413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20,058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457200" y="2306493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Chess Games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2626533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Lichess.org 2016–2017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60320" y="1483533"/>
            <a:ext cx="1920240" cy="2194560"/>
          </a:xfrm>
          <a:prstGeom prst="rect">
            <a:avLst/>
          </a:prstGeom>
          <a:solidFill>
            <a:srgbClr val="161616"/>
          </a:solidFill>
          <a:ln w="12700">
            <a:solidFill>
              <a:srgbClr val="2E8B7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560320" y="1483533"/>
            <a:ext cx="1920240" cy="54864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560320" y="1666413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8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2560320" y="2306493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 Styles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651760" y="2626533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V.Aggressive · Aggressive · Balanced · Positional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1483533"/>
            <a:ext cx="1920240" cy="2194560"/>
          </a:xfrm>
          <a:prstGeom prst="rect">
            <a:avLst/>
          </a:prstGeom>
          <a:solidFill>
            <a:srgbClr val="161616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663440" y="1483533"/>
            <a:ext cx="192024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63440" y="1666413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4663440" y="2306493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754880" y="2626533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Ratings, openings, moves, outcomes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766560" y="1483533"/>
            <a:ext cx="1920240" cy="2194560"/>
          </a:xfrm>
          <a:prstGeom prst="rect">
            <a:avLst/>
          </a:prstGeom>
          <a:solidFill>
            <a:srgbClr val="161616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766560" y="1483533"/>
            <a:ext cx="1920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766560" y="1666413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800–2700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6766560" y="2367453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ELO Range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858000" y="2626533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Beginner to Grandmaster level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5720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C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Style Distribution</a:t>
            </a:r>
            <a:endParaRPr lang="en-US" sz="1300" dirty="0"/>
          </a:p>
        </p:txBody>
      </p:sp>
      <p:graphicFrame>
        <p:nvGraphicFramePr>
          <p:cNvPr id="58" name="Chart 0"/>
          <p:cNvGraphicFramePr/>
          <p:nvPr>
            <p:extLst>
              <p:ext uri="{D42A27DB-BD31-4B8C-83A1-F6EECF244321}">
                <p14:modId xmlns:p14="http://schemas.microsoft.com/office/powerpoint/2010/main" val="3832116060"/>
              </p:ext>
            </p:extLst>
          </p:nvPr>
        </p:nvGraphicFramePr>
        <p:xfrm>
          <a:off x="182880" y="4160520"/>
          <a:ext cx="4572000" cy="982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9" name="Shape 56"/>
          <p:cNvSpPr/>
          <p:nvPr/>
        </p:nvSpPr>
        <p:spPr>
          <a:xfrm>
            <a:off x="5139558" y="4000500"/>
            <a:ext cx="3364361" cy="845820"/>
          </a:xfrm>
          <a:prstGeom prst="rect">
            <a:avLst/>
          </a:prstGeom>
          <a:solidFill>
            <a:srgbClr val="161616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5212080" y="3977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missing values across all 16 columns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5212080" y="4297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dataset. No imputation needed. 100% complete records.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58784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70848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82912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02752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14816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26880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838944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58784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070848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82912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02752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14816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326880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838944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0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58784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70848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582912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02752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14816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26880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38944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46720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58784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70848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82912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02752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814816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326880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838944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292608"/>
            <a:ext cx="109728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2926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Reveal: Who Actually Wins?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rate by opening style (White's perspective, 20,058 games)</a:t>
            </a:r>
            <a:endParaRPr lang="en-US" sz="12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38" name="Chart 0"/>
          <p:cNvGraphicFramePr/>
          <p:nvPr/>
        </p:nvGraphicFramePr>
        <p:xfrm>
          <a:off x="365760" y="1554480"/>
          <a:ext cx="5669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Shape 36"/>
          <p:cNvSpPr/>
          <p:nvPr/>
        </p:nvSpPr>
        <p:spPr>
          <a:xfrm>
            <a:off x="6309360" y="1508760"/>
            <a:ext cx="26060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8B7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309360" y="1508760"/>
            <a:ext cx="54864" cy="914400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446520" y="1581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Positional Leads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446520" y="18288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51.6%</a:t>
            </a:r>
            <a:endParaRPr lang="en-US" sz="2400" dirty="0"/>
          </a:p>
        </p:txBody>
      </p:sp>
      <p:sp>
        <p:nvSpPr>
          <p:cNvPr id="43" name="Text 40"/>
          <p:cNvSpPr/>
          <p:nvPr/>
        </p:nvSpPr>
        <p:spPr>
          <a:xfrm>
            <a:off x="6446520" y="21031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Highest </a:t>
            </a:r>
            <a:r>
              <a:rPr lang="en-US" sz="9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 </a:t>
            </a: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rate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309360" y="2587752"/>
            <a:ext cx="26060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6309360" y="2587752"/>
            <a:ext cx="54864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446520" y="26609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Black Advantage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446520" y="29077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49.6%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6446520" y="31821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Balanced openings</a:t>
            </a:r>
            <a:r>
              <a:rPr lang="en-US" sz="9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Black </a:t>
            </a: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wins more!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309360" y="3666744"/>
            <a:ext cx="260604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D4A84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6309360" y="3666744"/>
            <a:ext cx="54864" cy="9144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446520" y="37398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Tiny Gap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6446520" y="398678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5.6%</a:t>
            </a:r>
            <a:endParaRPr lang="en-US" sz="2400" dirty="0"/>
          </a:p>
        </p:txBody>
      </p:sp>
      <p:sp>
        <p:nvSpPr>
          <p:cNvPr id="53" name="Text 50"/>
          <p:cNvSpPr/>
          <p:nvPr/>
        </p:nvSpPr>
        <p:spPr>
          <a:xfrm>
            <a:off x="6446520" y="42611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difference across all styles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58784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70848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82912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02752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14816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26880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838944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58784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070848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82912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02752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14816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326880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838944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0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58784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70848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582912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02752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14816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26880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38944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46720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58784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70848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82912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02752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814816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326880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838944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292608"/>
            <a:ext cx="109728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2926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</a:t>
            </a:r>
            <a:r>
              <a:rPr lang="en-US" sz="3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Games</a:t>
            </a:r>
            <a:r>
              <a:rPr lang="en-US" sz="3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Actually End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Decisiveness scores &amp; game length  busting the myths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" y="15087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Decisiveness Score by Style  (3=Mate · 2=Resign · 1=Time · 0=Draw)</a:t>
            </a:r>
            <a:endParaRPr lang="en-US" sz="10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274320" y="1828800"/>
          <a:ext cx="42062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Text 37"/>
          <p:cNvSpPr/>
          <p:nvPr/>
        </p:nvSpPr>
        <p:spPr>
          <a:xfrm>
            <a:off x="4663440" y="1508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 Game Length by Style  (turns)</a:t>
            </a:r>
            <a:endParaRPr lang="en-US" sz="1000" dirty="0"/>
          </a:p>
        </p:txBody>
      </p:sp>
      <p:graphicFrame>
        <p:nvGraphicFramePr>
          <p:cNvPr id="41" name="Chart 1"/>
          <p:cNvGraphicFramePr/>
          <p:nvPr/>
        </p:nvGraphicFramePr>
        <p:xfrm>
          <a:off x="4572000" y="1828800"/>
          <a:ext cx="42062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2" name="Shape 38"/>
          <p:cNvSpPr/>
          <p:nvPr/>
        </p:nvSpPr>
        <p:spPr>
          <a:xfrm>
            <a:off x="3200400" y="4480560"/>
            <a:ext cx="2743200" cy="502920"/>
          </a:xfrm>
          <a:prstGeom prst="rect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3200400" y="4480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MYTH BUSTED: Gambits don't create shorter games!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58784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70848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82912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02752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14816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26880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838944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58784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070848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82912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02752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14816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326880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838944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0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58784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70848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582912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02752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14816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26880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38944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46720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58784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70848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82912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02752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814816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326880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838944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292608"/>
            <a:ext cx="109728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2926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Victory Type Breakdown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games actually end across different opening styles?</a:t>
            </a:r>
            <a:endParaRPr lang="en-US" sz="120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274320" y="1508760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Text 36"/>
          <p:cNvSpPr/>
          <p:nvPr/>
        </p:nvSpPr>
        <p:spPr>
          <a:xfrm>
            <a:off x="5943600" y="1508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C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943600" y="1920240"/>
            <a:ext cx="2926080" cy="914400"/>
          </a:xfrm>
          <a:prstGeom prst="rect">
            <a:avLst/>
          </a:prstGeom>
          <a:solidFill>
            <a:srgbClr val="161616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035040" y="199339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~55%</a:t>
            </a:r>
            <a:endParaRPr lang="en-US" sz="2600" dirty="0"/>
          </a:p>
        </p:txBody>
      </p:sp>
      <p:sp>
        <p:nvSpPr>
          <p:cNvPr id="42" name="Text 39"/>
          <p:cNvSpPr/>
          <p:nvPr/>
        </p:nvSpPr>
        <p:spPr>
          <a:xfrm>
            <a:off x="6035040" y="2423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Games end by resignation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035040" y="2606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all opening styles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5943600" y="2971800"/>
            <a:ext cx="2926080" cy="914400"/>
          </a:xfrm>
          <a:prstGeom prst="rect">
            <a:avLst/>
          </a:prstGeom>
          <a:solidFill>
            <a:srgbClr val="161616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035040" y="304495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~22%</a:t>
            </a:r>
            <a:endParaRPr lang="en-US" sz="2600" dirty="0"/>
          </a:p>
        </p:txBody>
      </p:sp>
      <p:sp>
        <p:nvSpPr>
          <p:cNvPr id="46" name="Text 43"/>
          <p:cNvSpPr/>
          <p:nvPr/>
        </p:nvSpPr>
        <p:spPr>
          <a:xfrm>
            <a:off x="6035040" y="3474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by checkmate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6035040" y="36576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slight edge for balanced openings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5943600" y="4023360"/>
            <a:ext cx="2926080" cy="914400"/>
          </a:xfrm>
          <a:prstGeom prst="rect">
            <a:avLst/>
          </a:prstGeom>
          <a:solidFill>
            <a:srgbClr val="161616"/>
          </a:solidFill>
          <a:ln w="12700">
            <a:solidFill>
              <a:srgbClr val="2E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035040" y="4096512"/>
            <a:ext cx="1226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8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~5%</a:t>
            </a:r>
            <a:endParaRPr lang="en-US" sz="2600" dirty="0"/>
          </a:p>
        </p:txBody>
      </p:sp>
      <p:sp>
        <p:nvSpPr>
          <p:cNvPr id="50" name="Text 47"/>
          <p:cNvSpPr/>
          <p:nvPr/>
        </p:nvSpPr>
        <p:spPr>
          <a:xfrm>
            <a:off x="6035040" y="4526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Draws occur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035040" y="47091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slightly higher in Aggressive style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58784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70848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82912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02752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14816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26880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838944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58784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070848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82912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02752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14816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326880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838944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0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58784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70848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582912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02752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14816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26880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38944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46720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58784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70848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82912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02752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814816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326880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838944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292608"/>
            <a:ext cx="109728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2926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Crossover Point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does positional chess overtake aggressive play?</a:t>
            </a:r>
            <a:endParaRPr lang="en-US" sz="120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274320" y="1508760"/>
          <a:ext cx="5669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Shape 36"/>
          <p:cNvSpPr/>
          <p:nvPr/>
        </p:nvSpPr>
        <p:spPr>
          <a:xfrm>
            <a:off x="6126480" y="1508760"/>
            <a:ext cx="2743200" cy="1005840"/>
          </a:xfrm>
          <a:prstGeom prst="rect">
            <a:avLst/>
          </a:prstGeom>
          <a:solidFill>
            <a:srgbClr val="C0392B">
              <a:alpha val="15000"/>
            </a:srgbClr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217920" y="1572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⚔️  BELOW 1,650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217920" y="1874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Aggression wins.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Opponents can't punish gambits.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126480" y="2697480"/>
            <a:ext cx="2743200" cy="594360"/>
          </a:xfrm>
          <a:prstGeom prst="rect">
            <a:avLst/>
          </a:prstGeom>
          <a:solidFill>
            <a:srgbClr val="D4A843">
              <a:alpha val="90000"/>
            </a:srgbClr>
          </a:solidFill>
          <a:ln w="25400">
            <a:solidFill>
              <a:srgbClr val="F0C8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126480" y="26974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⬩  THE CROSSOVER  ⬩  ~1,650 RATING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126480" y="3429000"/>
            <a:ext cx="2743200" cy="1005840"/>
          </a:xfrm>
          <a:prstGeom prst="rect">
            <a:avLst/>
          </a:prstGeom>
          <a:solidFill>
            <a:srgbClr val="2E8B7A">
              <a:alpha val="15000"/>
            </a:srgbClr>
          </a:solidFill>
          <a:ln w="19050">
            <a:solidFill>
              <a:srgbClr val="2E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217920" y="34930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🏛️  ABOVE 1,650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6217920" y="3794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Positional takes over.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Experts punish gambits.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58784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70848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82912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02752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14816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26880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838944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58784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070848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82912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02752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14816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326880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838944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0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58784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70848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582912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02752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14816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26880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38944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46720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58784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70848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82912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02752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814816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326880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838944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292608"/>
            <a:ext cx="10972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2926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Beginner Trap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Aggression works... until you're good enough to face someone who knows how to punish it.</a:t>
            </a:r>
            <a:endParaRPr lang="en-US" sz="120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274320" y="1600200"/>
          <a:ext cx="57607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Shape 36"/>
          <p:cNvSpPr/>
          <p:nvPr/>
        </p:nvSpPr>
        <p:spPr>
          <a:xfrm>
            <a:off x="6217920" y="1508760"/>
            <a:ext cx="2651760" cy="1078992"/>
          </a:xfrm>
          <a:prstGeom prst="rect">
            <a:avLst/>
          </a:prstGeom>
          <a:solidFill>
            <a:srgbClr val="161616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217920" y="1508760"/>
            <a:ext cx="265176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309360" y="16002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THE ILLUSION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309360" y="185623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low ratings, aggressive play generates chaos. Opponents blunder under pressure. Wins feel earned  but they come from opponent errors, not the opening's strength.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217920" y="2679192"/>
            <a:ext cx="2651760" cy="1078992"/>
          </a:xfrm>
          <a:prstGeom prst="rect">
            <a:avLst/>
          </a:prstGeom>
          <a:solidFill>
            <a:srgbClr val="161616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6217920" y="2679192"/>
            <a:ext cx="265176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309360" y="27706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THE PLATEAU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309360" y="302666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Around 1,400–1,600, the advantage evaporates. Players start accepting gambits correctly and punishing overextension.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217920" y="3849624"/>
            <a:ext cx="2651760" cy="1078992"/>
          </a:xfrm>
          <a:prstGeom prst="rect">
            <a:avLst/>
          </a:prstGeom>
          <a:solidFill>
            <a:srgbClr val="161616"/>
          </a:solidFill>
          <a:ln w="12700">
            <a:solidFill>
              <a:srgbClr val="2E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6217920" y="3849624"/>
            <a:ext cx="2651760" cy="45720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309360" y="39410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8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THE TRAP SPRINGS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309360" y="4197096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Above 1,650, aggression actively hurts. Experts anticipate attacks, exploit weaknesses left by aggressive pawn structures, and convert calmly.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434840" y="2331720"/>
            <a:ext cx="3200400" cy="9144"/>
          </a:xfrm>
          <a:prstGeom prst="rect">
            <a:avLst/>
          </a:prstGeom>
          <a:solidFill>
            <a:srgbClr val="D4A843">
              <a:alpha val="8000"/>
            </a:srgbClr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800000">
            <a:off x="4434840" y="2331720"/>
            <a:ext cx="3200400" cy="9144"/>
          </a:xfrm>
          <a:prstGeom prst="rect">
            <a:avLst/>
          </a:prstGeom>
          <a:solidFill>
            <a:srgbClr val="D4A843">
              <a:alpha val="8000"/>
            </a:srgbClr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3600000">
            <a:off x="4434840" y="2331720"/>
            <a:ext cx="3200400" cy="9144"/>
          </a:xfrm>
          <a:prstGeom prst="rect">
            <a:avLst/>
          </a:prstGeom>
          <a:solidFill>
            <a:srgbClr val="D4A843">
              <a:alpha val="8000"/>
            </a:srgbClr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5400000">
            <a:off x="4434840" y="2331720"/>
            <a:ext cx="3200400" cy="9144"/>
          </a:xfrm>
          <a:prstGeom prst="rect">
            <a:avLst/>
          </a:prstGeom>
          <a:solidFill>
            <a:srgbClr val="D4A843">
              <a:alpha val="8000"/>
            </a:srgbClr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7200000">
            <a:off x="4434840" y="2331720"/>
            <a:ext cx="3200400" cy="9144"/>
          </a:xfrm>
          <a:prstGeom prst="rect">
            <a:avLst/>
          </a:prstGeom>
          <a:solidFill>
            <a:srgbClr val="D4A843">
              <a:alpha val="8000"/>
            </a:srgbClr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9000000">
            <a:off x="4434840" y="2331720"/>
            <a:ext cx="3200400" cy="9144"/>
          </a:xfrm>
          <a:prstGeom prst="rect">
            <a:avLst/>
          </a:prstGeom>
          <a:solidFill>
            <a:srgbClr val="D4A843">
              <a:alpha val="8000"/>
            </a:srgbClr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10800000">
            <a:off x="4434840" y="2331720"/>
            <a:ext cx="3200400" cy="9144"/>
          </a:xfrm>
          <a:prstGeom prst="rect">
            <a:avLst/>
          </a:prstGeom>
          <a:solidFill>
            <a:srgbClr val="D4A843">
              <a:alpha val="8000"/>
            </a:srgbClr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12600000">
            <a:off x="4434840" y="2331720"/>
            <a:ext cx="3200400" cy="9144"/>
          </a:xfrm>
          <a:prstGeom prst="rect">
            <a:avLst/>
          </a:prstGeom>
          <a:solidFill>
            <a:srgbClr val="D4A843">
              <a:alpha val="8000"/>
            </a:srgbClr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rot="14400000">
            <a:off x="4434840" y="2331720"/>
            <a:ext cx="3200400" cy="9144"/>
          </a:xfrm>
          <a:prstGeom prst="rect">
            <a:avLst/>
          </a:prstGeom>
          <a:solidFill>
            <a:srgbClr val="D4A843">
              <a:alpha val="8000"/>
            </a:srgbClr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rot="16200000">
            <a:off x="4434840" y="2331720"/>
            <a:ext cx="3200400" cy="9144"/>
          </a:xfrm>
          <a:prstGeom prst="rect">
            <a:avLst/>
          </a:prstGeom>
          <a:solidFill>
            <a:srgbClr val="D4A843">
              <a:alpha val="8000"/>
            </a:srgbClr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 rot="18000000">
            <a:off x="4434840" y="2331720"/>
            <a:ext cx="3200400" cy="9144"/>
          </a:xfrm>
          <a:prstGeom prst="rect">
            <a:avLst/>
          </a:prstGeom>
          <a:solidFill>
            <a:srgbClr val="D4A843">
              <a:alpha val="8000"/>
            </a:srgbClr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rot="19800000">
            <a:off x="4434840" y="2331720"/>
            <a:ext cx="3200400" cy="9144"/>
          </a:xfrm>
          <a:prstGeom prst="rect">
            <a:avLst/>
          </a:prstGeom>
          <a:solidFill>
            <a:srgbClr val="D4A843">
              <a:alpha val="8000"/>
            </a:srgbClr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92608"/>
            <a:ext cx="137160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926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REVEAL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4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SHOCKING TRUTH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0A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is 14× more powerful than opening style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1828800"/>
            <a:ext cx="3931920" cy="27432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1920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A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Style Effect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22860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5.6%</a:t>
            </a:r>
            <a:endParaRPr lang="en-US" sz="8000" dirty="0"/>
          </a:p>
        </p:txBody>
      </p:sp>
      <p:sp>
        <p:nvSpPr>
          <p:cNvPr id="22" name="Text 20"/>
          <p:cNvSpPr/>
          <p:nvPr/>
        </p:nvSpPr>
        <p:spPr>
          <a:xfrm>
            <a:off x="45720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6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spread between opening styles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828800"/>
            <a:ext cx="3931920" cy="2743200"/>
          </a:xfrm>
          <a:prstGeom prst="rect">
            <a:avLst/>
          </a:prstGeom>
          <a:solidFill>
            <a:srgbClr val="1A0505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1828800"/>
            <a:ext cx="39319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19385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 Gap Effect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22860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~80%</a:t>
            </a:r>
            <a:endParaRPr lang="en-US" sz="8000" dirty="0"/>
          </a:p>
        </p:txBody>
      </p:sp>
      <p:sp>
        <p:nvSpPr>
          <p:cNvPr id="28" name="Text 26"/>
          <p:cNvSpPr/>
          <p:nvPr/>
        </p:nvSpPr>
        <p:spPr>
          <a:xfrm>
            <a:off x="493776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MASSIVE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37760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win-rate swing from rating advantage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60520" y="2788920"/>
            <a:ext cx="548640" cy="5486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6052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58784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70848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82912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02752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14816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26880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838944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58784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070848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82912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02752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14816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326880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838944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0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58784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70848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582912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02752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14816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26880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38944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46720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58784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70848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82912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02752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814816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326880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838944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292608"/>
            <a:ext cx="109728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2926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8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 Dominates Everything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 win probability by rating gap : the most important finding</a:t>
            </a:r>
            <a:endParaRPr lang="en-US" sz="120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274320" y="1508760"/>
          <a:ext cx="56692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Shape 36"/>
          <p:cNvSpPr/>
          <p:nvPr/>
        </p:nvSpPr>
        <p:spPr>
          <a:xfrm>
            <a:off x="6217920" y="1508760"/>
            <a:ext cx="2651760" cy="1005840"/>
          </a:xfrm>
          <a:prstGeom prst="rect">
            <a:avLst/>
          </a:prstGeom>
          <a:solidFill>
            <a:srgbClr val="161616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309360" y="158191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3800" dirty="0"/>
          </a:p>
        </p:txBody>
      </p:sp>
      <p:sp>
        <p:nvSpPr>
          <p:cNvPr id="41" name="Text 38"/>
          <p:cNvSpPr/>
          <p:nvPr/>
        </p:nvSpPr>
        <p:spPr>
          <a:xfrm>
            <a:off x="6309360" y="21671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when +400 rated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217920" y="2679192"/>
            <a:ext cx="2651760" cy="1005840"/>
          </a:xfrm>
          <a:prstGeom prst="rect">
            <a:avLst/>
          </a:prstGeom>
          <a:solidFill>
            <a:srgbClr val="161616"/>
          </a:solidFill>
          <a:ln w="1905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309360" y="275234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3800" dirty="0"/>
          </a:p>
        </p:txBody>
      </p:sp>
      <p:sp>
        <p:nvSpPr>
          <p:cNvPr id="44" name="Text 41"/>
          <p:cNvSpPr/>
          <p:nvPr/>
        </p:nvSpPr>
        <p:spPr>
          <a:xfrm>
            <a:off x="6309360" y="3337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when -400 rated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217920" y="3849624"/>
            <a:ext cx="2651760" cy="1005840"/>
          </a:xfrm>
          <a:prstGeom prst="rect">
            <a:avLst/>
          </a:prstGeom>
          <a:solidFill>
            <a:srgbClr val="161616"/>
          </a:solidFill>
          <a:ln w="1905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309360" y="3922776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14×</a:t>
            </a:r>
            <a:endParaRPr lang="en-US" sz="3800" dirty="0"/>
          </a:p>
        </p:txBody>
      </p:sp>
      <p:sp>
        <p:nvSpPr>
          <p:cNvPr id="47" name="Text 44"/>
          <p:cNvSpPr/>
          <p:nvPr/>
        </p:nvSpPr>
        <p:spPr>
          <a:xfrm>
            <a:off x="6309360" y="4507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vs style impact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58784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70848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82912" y="13716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02752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14816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26880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838944" y="39319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0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58784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070848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82912" y="64922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02752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14816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326880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838944" y="905256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0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58784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70848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582912" y="1161288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02752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14816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26880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38944" y="1417320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46720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58784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70848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82912" y="1673352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02752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814816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326880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838944" y="1929384"/>
            <a:ext cx="256032" cy="256032"/>
          </a:xfrm>
          <a:prstGeom prst="rect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292608"/>
            <a:ext cx="1097280" cy="25603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2926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9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vs. Reward &amp; Practical Advice</a:t>
            </a:r>
            <a:endParaRPr lang="en-US" sz="320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274320" y="150876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Shape 35"/>
          <p:cNvSpPr/>
          <p:nvPr/>
        </p:nvSpPr>
        <p:spPr>
          <a:xfrm>
            <a:off x="5760720" y="1508760"/>
            <a:ext cx="3108960" cy="1051560"/>
          </a:xfrm>
          <a:prstGeom prst="rect">
            <a:avLst/>
          </a:prstGeom>
          <a:solidFill>
            <a:srgbClr val="161616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5760720" y="1508760"/>
            <a:ext cx="310896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85216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🌱  BEGINNER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852160" y="189280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 aggressive!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tactics, force chaos, build pattern recognition.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760720" y="2651760"/>
            <a:ext cx="3108960" cy="1051560"/>
          </a:xfrm>
          <a:prstGeom prst="rect">
            <a:avLst/>
          </a:prstGeom>
          <a:solidFill>
            <a:srgbClr val="161616"/>
          </a:solidFill>
          <a:ln w="1905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5760720" y="2651760"/>
            <a:ext cx="310896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5852160" y="2743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⚖️  INTERMEDIATE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5852160" y="303580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 both.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where you naturally excel :style becomes identity.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760720" y="3794760"/>
            <a:ext cx="3108960" cy="1051560"/>
          </a:xfrm>
          <a:prstGeom prst="rect">
            <a:avLst/>
          </a:prstGeom>
          <a:solidFill>
            <a:srgbClr val="161616"/>
          </a:solidFill>
          <a:ln w="19050">
            <a:solidFill>
              <a:srgbClr val="2E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5760720" y="3794760"/>
            <a:ext cx="3108960" cy="45720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585216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🏛️  ADVANCED+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5852160" y="417880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Positional pays off.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work, but structural understanding gives edge.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2823" y="0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85646" y="0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28470" y="0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71293" y="0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14116" y="0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56939" y="0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99762" y="0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642823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2823" y="642823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85646" y="642823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28470" y="642823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71293" y="642823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14116" y="642823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56939" y="642823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99762" y="642823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1285646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2823" y="1285646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85646" y="1285646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928470" y="1285646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71293" y="1285646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14116" y="1285646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56939" y="1285646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99762" y="1285646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0" y="1928470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2823" y="1928470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285646" y="1928470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928470" y="1928470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71293" y="1928470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14116" y="1928470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56939" y="1928470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499762" y="1928470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0" y="2571293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2823" y="2571293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285646" y="2571293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928470" y="2571293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571293" y="2571293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14116" y="2571293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856939" y="2571293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499762" y="2571293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0" y="3214116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42823" y="3214116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285646" y="3214116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928470" y="3214116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571293" y="3214116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214116" y="3214116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856939" y="3214116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499762" y="3214116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0" y="3856939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42823" y="3856939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285646" y="3856939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928470" y="3856939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571293" y="3856939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214116" y="3856939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856939" y="3856939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499762" y="3856939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0" y="4499762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42823" y="4499762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285646" y="4499762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928470" y="4499762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571293" y="4499762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214116" y="4499762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856939" y="4499762"/>
            <a:ext cx="642823" cy="642823"/>
          </a:xfrm>
          <a:prstGeom prst="rect">
            <a:avLst/>
          </a:prstGeom>
          <a:solidFill>
            <a:srgbClr val="7C4A1E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499762" y="4499762"/>
            <a:ext cx="642823" cy="642823"/>
          </a:xfrm>
          <a:prstGeom prst="rect">
            <a:avLst/>
          </a:prstGeom>
          <a:solidFill>
            <a:srgbClr val="F5DFA8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14400" y="365760"/>
            <a:ext cx="7315200" cy="4389120"/>
          </a:xfrm>
          <a:prstGeom prst="rect">
            <a:avLst/>
          </a:prstGeom>
          <a:solidFill>
            <a:srgbClr val="080808">
              <a:alpha val="85000"/>
            </a:srgbClr>
          </a:solidFill>
          <a:ln w="19050">
            <a:solidFill>
              <a:srgbClr val="D4A84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914400" y="548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8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CHECKMATE.</a:t>
            </a:r>
            <a:endParaRPr lang="en-US" sz="6000" dirty="0"/>
          </a:p>
        </p:txBody>
      </p:sp>
      <p:sp>
        <p:nvSpPr>
          <p:cNvPr id="68" name="Text 66"/>
          <p:cNvSpPr/>
          <p:nvPr/>
        </p:nvSpPr>
        <p:spPr>
          <a:xfrm>
            <a:off x="91440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0A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Verdict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280160" y="2011680"/>
            <a:ext cx="320040" cy="320040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28016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1691640" y="19659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Aggression has a tiny edge at lower levels (~3%)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1280160" y="2606040"/>
            <a:ext cx="320040" cy="320040"/>
          </a:xfrm>
          <a:prstGeom prst="ellipse">
            <a:avLst/>
          </a:prstGeom>
          <a:solidFill>
            <a:srgbClr val="2E8B7A">
              <a:alpha val="80000"/>
            </a:srgbClr>
          </a:solidFill>
          <a:ln w="12700">
            <a:solidFill>
              <a:srgbClr val="2E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28016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1691640" y="25603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Positional play wins at expert level (1,650+ rating)</a:t>
            </a:r>
            <a:endParaRPr lang="en-US" sz="1500" dirty="0"/>
          </a:p>
        </p:txBody>
      </p:sp>
      <p:sp>
        <p:nvSpPr>
          <p:cNvPr id="75" name="Shape 73"/>
          <p:cNvSpPr/>
          <p:nvPr/>
        </p:nvSpPr>
        <p:spPr>
          <a:xfrm>
            <a:off x="1280160" y="3200400"/>
            <a:ext cx="320040" cy="320040"/>
          </a:xfrm>
          <a:prstGeom prst="ellipse">
            <a:avLst/>
          </a:prstGeom>
          <a:solidFill>
            <a:srgbClr val="D4A843">
              <a:alpha val="80000"/>
            </a:srgbClr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128016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1691640" y="31546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is 14× more important than opening style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1371600" y="3657600"/>
            <a:ext cx="6400800" cy="777240"/>
          </a:xfrm>
          <a:prstGeom prst="rect">
            <a:avLst/>
          </a:prstGeom>
          <a:solidFill>
            <a:srgbClr val="D4A843">
              <a:alpha val="90000"/>
            </a:srgbClr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1371600" y="365760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"Play the style you love , then get really, really good."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91440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Data: Lichess.org  ·  20,058 games  ·  Codédex Data Science Challenge  ·  Feb 2026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 animBg="1"/>
      <p:bldP spid="71" grpId="0" animBg="1"/>
      <p:bldP spid="74" grpId="0" animBg="1"/>
      <p:bldP spid="77" grpId="0" animBg="1"/>
      <p:bldP spid="7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7A30BC1EE6B847A5519A078FBD557E" ma:contentTypeVersion="11" ma:contentTypeDescription="Create a new document." ma:contentTypeScope="" ma:versionID="a9e139939da74bd7642ac8a235afab4e">
  <xsd:schema xmlns:xsd="http://www.w3.org/2001/XMLSchema" xmlns:xs="http://www.w3.org/2001/XMLSchema" xmlns:p="http://schemas.microsoft.com/office/2006/metadata/properties" xmlns:ns3="ddfcc0e0-e30e-4a4c-9cfc-be800831e886" targetNamespace="http://schemas.microsoft.com/office/2006/metadata/properties" ma:root="true" ma:fieldsID="eb699cec73d033e4278e788a2553ddc9" ns3:_="">
    <xsd:import namespace="ddfcc0e0-e30e-4a4c-9cfc-be800831e88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fcc0e0-e30e-4a4c-9cfc-be800831e88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dfcc0e0-e30e-4a4c-9cfc-be800831e886" xsi:nil="true"/>
  </documentManagement>
</p:properties>
</file>

<file path=customXml/itemProps1.xml><?xml version="1.0" encoding="utf-8"?>
<ds:datastoreItem xmlns:ds="http://schemas.openxmlformats.org/officeDocument/2006/customXml" ds:itemID="{D2CB8739-CDC1-4F93-BA94-095BD9C218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AE628D-198A-43BC-B0D8-34E79EA92B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fcc0e0-e30e-4a4c-9cfc-be800831e8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D12C8A2-7A35-4A04-AC52-631AAC08B686}">
  <ds:schemaRefs>
    <ds:schemaRef ds:uri="http://purl.org/dc/terms/"/>
    <ds:schemaRef ds:uri="http://schemas.microsoft.com/office/2006/documentManagement/types"/>
    <ds:schemaRef ds:uri="ddfcc0e0-e30e-4a4c-9cfc-be800831e886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683</Words>
  <Application>Microsoft Office PowerPoint</Application>
  <PresentationFormat>On-screen Show (16:9)</PresentationFormat>
  <Paragraphs>155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Does Aggression Win in Chess?</dc:title>
  <dc:subject>PptxGenJS Presentation</dc:subject>
  <dc:creator>Chess Data Analysis</dc:creator>
  <cp:lastModifiedBy>Tanisha Fonseca</cp:lastModifiedBy>
  <cp:revision>3</cp:revision>
  <dcterms:created xsi:type="dcterms:W3CDTF">2026-02-28T06:35:26Z</dcterms:created>
  <dcterms:modified xsi:type="dcterms:W3CDTF">2026-02-28T19:29:02Z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0x010100607A30BC1EE6B847A5519A078FBD557E</vt:lpwstr>
  </property>
</Properties>
</file>